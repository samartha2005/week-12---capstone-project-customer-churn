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74" r:id="rId6"/>
    <p:sldId id="275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6" r:id="rId16"/>
    <p:sldId id="268" r:id="rId17"/>
    <p:sldId id="269" r:id="rId18"/>
    <p:sldId id="271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8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550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902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495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253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38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01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65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29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78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36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059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3053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33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051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953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373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2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FBB1AEA-BD4C-47E0-8A8A-924D0EBBF69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7371C-3436-4CEA-9ABD-207015AF7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268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Customer Churn Prediction Using Machine Learning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SAMARTHA GAIKWAD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4450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Customer churn is a major challenge for subscription-based businesses.</a:t>
            </a:r>
          </a:p>
          <a:p>
            <a:r>
              <a:rPr lang="en-US" dirty="0" smtClean="0"/>
              <a:t>When customers discontinue services:</a:t>
            </a:r>
          </a:p>
          <a:p>
            <a:r>
              <a:rPr lang="en-US" dirty="0" smtClean="0"/>
              <a:t>Companies lose recurring revenue</a:t>
            </a:r>
          </a:p>
          <a:p>
            <a:r>
              <a:rPr lang="en-US" dirty="0" smtClean="0"/>
              <a:t>Customer acquisition costs increase</a:t>
            </a:r>
          </a:p>
          <a:p>
            <a:r>
              <a:rPr lang="en-US" dirty="0" smtClean="0"/>
              <a:t>Long-term profitability decreases</a:t>
            </a:r>
          </a:p>
          <a:p>
            <a:r>
              <a:rPr lang="en-US" b="1" dirty="0" smtClean="0"/>
              <a:t>Objective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Build a machine learning model to predict customers likely to churn.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52862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Business Impact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churn prediction is important:</a:t>
            </a:r>
          </a:p>
          <a:p>
            <a:r>
              <a:rPr lang="en-US" dirty="0" smtClean="0"/>
              <a:t>Retaining customers is cheaper than acquiring new ones</a:t>
            </a:r>
          </a:p>
          <a:p>
            <a:r>
              <a:rPr lang="en-US" dirty="0" smtClean="0"/>
              <a:t>Early identification enables targeted retention strategies</a:t>
            </a:r>
          </a:p>
          <a:p>
            <a:r>
              <a:rPr lang="en-US" dirty="0" smtClean="0"/>
              <a:t>Helps reduce revenue loss</a:t>
            </a:r>
          </a:p>
          <a:p>
            <a:r>
              <a:rPr lang="en-US" b="1" dirty="0" smtClean="0"/>
              <a:t>Business Goal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Reduce churn rate using predictive analytics.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2610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Project Objectives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729151"/>
            <a:ext cx="6889899" cy="254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dirty="0"/>
              <a:t>Analyze customer behavior patterns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dirty="0"/>
              <a:t>Identify key factors influencing churn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dirty="0"/>
              <a:t>Build and evaluate ML classification model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dirty="0"/>
              <a:t>Deploy prediction system as web application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dirty="0"/>
              <a:t>Provide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35808449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Dataset Overview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Dataset: Customer Churn Dataset</a:t>
            </a:r>
          </a:p>
          <a:p>
            <a:r>
              <a:rPr lang="en-US" dirty="0" smtClean="0"/>
              <a:t>Includes: Demographic information</a:t>
            </a:r>
          </a:p>
          <a:p>
            <a:r>
              <a:rPr lang="en-US" dirty="0" smtClean="0"/>
              <a:t>Contract details: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Billing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Tenure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Service-related features</a:t>
            </a:r>
          </a:p>
          <a:p>
            <a:r>
              <a:rPr lang="en-US" dirty="0" smtClean="0"/>
              <a:t>Target Variable:</a:t>
            </a:r>
            <a:br>
              <a:rPr lang="en-US" dirty="0" smtClean="0"/>
            </a:br>
            <a:r>
              <a:rPr lang="en-US" dirty="0" smtClean="0"/>
              <a:t>Churn (Yes/No)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803043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</a:t>
            </a:r>
            <a:r>
              <a:rPr lang="en-IN" dirty="0" err="1" smtClean="0"/>
              <a:t>Preprocessing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Steps performed:</a:t>
            </a:r>
          </a:p>
          <a:p>
            <a:r>
              <a:rPr lang="en-US" dirty="0" smtClean="0"/>
              <a:t>Removed duplicate records</a:t>
            </a:r>
          </a:p>
          <a:p>
            <a:r>
              <a:rPr lang="en-US" dirty="0" smtClean="0"/>
              <a:t>Converted </a:t>
            </a:r>
            <a:r>
              <a:rPr lang="en-US" dirty="0" err="1" smtClean="0"/>
              <a:t>TotalCharges</a:t>
            </a:r>
            <a:r>
              <a:rPr lang="en-US" dirty="0" smtClean="0"/>
              <a:t> to numeric format</a:t>
            </a:r>
          </a:p>
          <a:p>
            <a:r>
              <a:rPr lang="en-US" dirty="0" smtClean="0"/>
              <a:t>Handled missing values</a:t>
            </a:r>
          </a:p>
          <a:p>
            <a:r>
              <a:rPr lang="en-US" dirty="0" smtClean="0"/>
              <a:t>One-Hot Encoding for categorical variables</a:t>
            </a:r>
          </a:p>
          <a:p>
            <a:r>
              <a:rPr lang="en-US" dirty="0" smtClean="0"/>
              <a:t>Train-Test Split (80:20)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2638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Exploratory Data Analysis (EDA)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Key Insights:</a:t>
            </a:r>
          </a:p>
          <a:p>
            <a:pPr marL="0" indent="0">
              <a:buNone/>
            </a:pPr>
            <a:r>
              <a:rPr lang="en-US" dirty="0" smtClean="0"/>
              <a:t>Customers with shorter tenure churn more</a:t>
            </a:r>
          </a:p>
          <a:p>
            <a:pPr marL="0" indent="0">
              <a:buNone/>
            </a:pPr>
            <a:r>
              <a:rPr lang="en-US" dirty="0" smtClean="0"/>
              <a:t>Higher monthly charges increase churn probability</a:t>
            </a:r>
          </a:p>
          <a:p>
            <a:pPr marL="0" indent="0">
              <a:buNone/>
            </a:pPr>
            <a:r>
              <a:rPr lang="en-US" dirty="0" smtClean="0"/>
              <a:t>Certain contract types show higher churn rate</a:t>
            </a:r>
          </a:p>
          <a:p>
            <a:r>
              <a:rPr lang="en-US" dirty="0" smtClean="0"/>
              <a:t>Visualizations Used:</a:t>
            </a:r>
          </a:p>
          <a:p>
            <a:pPr marL="0" indent="0">
              <a:buNone/>
            </a:pPr>
            <a:r>
              <a:rPr lang="en-US" dirty="0" smtClean="0"/>
              <a:t>Churn distribution</a:t>
            </a:r>
          </a:p>
          <a:p>
            <a:pPr marL="0" indent="0">
              <a:buNone/>
            </a:pPr>
            <a:r>
              <a:rPr lang="en-US" dirty="0" smtClean="0"/>
              <a:t>Contract </a:t>
            </a:r>
            <a:r>
              <a:rPr lang="en-US" dirty="0" err="1" smtClean="0"/>
              <a:t>vs</a:t>
            </a:r>
            <a:r>
              <a:rPr lang="en-US" dirty="0" smtClean="0"/>
              <a:t> Churn</a:t>
            </a:r>
          </a:p>
          <a:p>
            <a:pPr marL="0" indent="0">
              <a:buNone/>
            </a:pPr>
            <a:r>
              <a:rPr lang="en-US" dirty="0" smtClean="0"/>
              <a:t>Monthly Charges </a:t>
            </a:r>
            <a:r>
              <a:rPr lang="en-US" dirty="0" err="1" smtClean="0"/>
              <a:t>vs</a:t>
            </a:r>
            <a:r>
              <a:rPr lang="en-US" dirty="0" smtClean="0"/>
              <a:t> Churn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7211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Feature Engineering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Applied One-Hot Encoding</a:t>
            </a:r>
          </a:p>
          <a:p>
            <a:r>
              <a:rPr lang="en-US" dirty="0" smtClean="0"/>
              <a:t>Feature alignment for deployment consistency</a:t>
            </a:r>
          </a:p>
          <a:p>
            <a:r>
              <a:rPr lang="en-US" dirty="0" smtClean="0"/>
              <a:t>Saved </a:t>
            </a:r>
            <a:r>
              <a:rPr lang="en-US" dirty="0" err="1" smtClean="0"/>
              <a:t>feature_columns.pkl</a:t>
            </a:r>
            <a:endParaRPr lang="en-US" dirty="0" smtClean="0"/>
          </a:p>
          <a:p>
            <a:r>
              <a:rPr lang="en-US" dirty="0" smtClean="0"/>
              <a:t>Ensured model compatibility during prediction</a:t>
            </a:r>
          </a:p>
          <a:p>
            <a:r>
              <a:rPr lang="en-US" dirty="0" smtClean="0"/>
              <a:t>Final dataset prepared for modeling.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52371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Model Selection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 Type: Binary Classification</a:t>
            </a:r>
          </a:p>
          <a:p>
            <a:r>
              <a:rPr lang="en-US" dirty="0" smtClean="0"/>
              <a:t>Model Used: Logistic Regression</a:t>
            </a:r>
          </a:p>
          <a:p>
            <a:r>
              <a:rPr lang="en-US" dirty="0" smtClean="0"/>
              <a:t>Why Logistic Regression?</a:t>
            </a:r>
          </a:p>
          <a:p>
            <a:pPr marL="571500" indent="-571500">
              <a:buFont typeface="+mj-lt"/>
              <a:buAutoNum type="arabicPeriod"/>
            </a:pPr>
            <a:r>
              <a:rPr lang="en-US" dirty="0" smtClean="0"/>
              <a:t>Simple and interpretable</a:t>
            </a:r>
          </a:p>
          <a:p>
            <a:pPr marL="571500" indent="-571500">
              <a:buFont typeface="+mj-lt"/>
              <a:buAutoNum type="arabicPeriod"/>
            </a:pPr>
            <a:r>
              <a:rPr lang="en-US" dirty="0" smtClean="0"/>
              <a:t>Efficient for structured data</a:t>
            </a:r>
          </a:p>
          <a:p>
            <a:pPr marL="571500" indent="-571500">
              <a:buFont typeface="+mj-lt"/>
              <a:buAutoNum type="arabicPeriod"/>
            </a:pPr>
            <a:r>
              <a:rPr lang="en-US" dirty="0" smtClean="0"/>
              <a:t>Good performance on classification problems</a:t>
            </a:r>
          </a:p>
          <a:p>
            <a:pPr marL="571500" indent="-571500">
              <a:buFont typeface="+mj-lt"/>
              <a:buAutoNum type="arabicPeriod"/>
            </a:pPr>
            <a:r>
              <a:rPr lang="en-US" dirty="0" smtClean="0"/>
              <a:t>High ROC-AUC score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20918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Model Performance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Accuracy,0.95</a:t>
            </a:r>
          </a:p>
          <a:p>
            <a:r>
              <a:rPr lang="en-IN" dirty="0"/>
              <a:t>Precision,0.6875</a:t>
            </a:r>
          </a:p>
          <a:p>
            <a:r>
              <a:rPr lang="en-IN" dirty="0"/>
              <a:t>Recall,1.0</a:t>
            </a:r>
          </a:p>
          <a:p>
            <a:r>
              <a:rPr lang="en-IN" dirty="0"/>
              <a:t>F1 Score,0.8148148148148148</a:t>
            </a:r>
          </a:p>
          <a:p>
            <a:r>
              <a:rPr lang="en-IN" dirty="0"/>
              <a:t>ROC-AUC </a:t>
            </a:r>
            <a:r>
              <a:rPr lang="en-IN" dirty="0" smtClean="0"/>
              <a:t>Score,0.9724208375893769</a:t>
            </a:r>
            <a:endParaRPr lang="en-IN" dirty="0"/>
          </a:p>
          <a:p>
            <a:r>
              <a:rPr lang="en-US" dirty="0" smtClean="0"/>
              <a:t>Interpretation: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95% overall accuracy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100% recall (no churner missed)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Excellent class separation 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959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Confusion Matrix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Confusion Matrix: [[84  5] [ 0 11]]</a:t>
            </a:r>
            <a:endParaRPr lang="en-IN" dirty="0"/>
          </a:p>
          <a:p>
            <a:r>
              <a:rPr lang="en-US" dirty="0" smtClean="0"/>
              <a:t>Explanation: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True Negatives: 84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False Positives: 5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False Negatives: 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True Positives: 11</a:t>
            </a:r>
          </a:p>
          <a:p>
            <a:r>
              <a:rPr lang="en-US" dirty="0" smtClean="0"/>
              <a:t>Important Insight:</a:t>
            </a:r>
            <a:br>
              <a:rPr lang="en-US" dirty="0" smtClean="0"/>
            </a:br>
            <a:r>
              <a:rPr lang="en-US" dirty="0" smtClean="0"/>
              <a:t>Model correctly identified all churn customers.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6582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ROC Curve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2586"/>
            <a:ext cx="10515600" cy="4384377"/>
          </a:xfrm>
        </p:spPr>
        <p:txBody>
          <a:bodyPr/>
          <a:lstStyle/>
          <a:p>
            <a:r>
              <a:rPr lang="en-US" dirty="0" smtClean="0"/>
              <a:t>ROC-AUC Score: 0.9724</a:t>
            </a:r>
          </a:p>
          <a:p>
            <a:r>
              <a:rPr lang="en-US" dirty="0" smtClean="0"/>
              <a:t>Meaning: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Strong ability to distinguish churn </a:t>
            </a:r>
            <a:r>
              <a:rPr lang="en-US" dirty="0" err="1" smtClean="0"/>
              <a:t>vs</a:t>
            </a:r>
            <a:r>
              <a:rPr lang="en-US" dirty="0" smtClean="0"/>
              <a:t> non-churn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AUC close to 1 indicates excellent model performance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073841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Key Churn Drivers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Major influencing factors: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Contract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Monthly charges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Customer tenure</a:t>
            </a:r>
          </a:p>
          <a:p>
            <a:r>
              <a:rPr lang="en-US" dirty="0" smtClean="0"/>
              <a:t>These features significantly impact churn probability.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403160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ML Pipeline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End-to-End Workflow:</a:t>
            </a:r>
          </a:p>
          <a:p>
            <a:r>
              <a:rPr lang="en-US" dirty="0" smtClean="0"/>
              <a:t>Data Cleaning</a:t>
            </a:r>
          </a:p>
          <a:p>
            <a:r>
              <a:rPr lang="en-US" dirty="0" smtClean="0"/>
              <a:t>EDA</a:t>
            </a:r>
          </a:p>
          <a:p>
            <a:r>
              <a:rPr lang="en-US" dirty="0" smtClean="0"/>
              <a:t>Feature Engineering</a:t>
            </a:r>
          </a:p>
          <a:p>
            <a:r>
              <a:rPr lang="en-US" dirty="0" smtClean="0"/>
              <a:t>Model Training</a:t>
            </a:r>
          </a:p>
          <a:p>
            <a:r>
              <a:rPr lang="en-US" dirty="0" smtClean="0"/>
              <a:t>Model Evaluation</a:t>
            </a:r>
          </a:p>
          <a:p>
            <a:r>
              <a:rPr lang="en-US" dirty="0" smtClean="0"/>
              <a:t>Model Saving (.</a:t>
            </a:r>
            <a:r>
              <a:rPr lang="en-US" dirty="0" err="1" smtClean="0"/>
              <a:t>pkl</a:t>
            </a:r>
            <a:r>
              <a:rPr lang="en-US" dirty="0" smtClean="0"/>
              <a:t>)</a:t>
            </a:r>
          </a:p>
          <a:p>
            <a:r>
              <a:rPr lang="en-US" dirty="0" smtClean="0"/>
              <a:t>Flask Deployment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426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Deployment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System Flow:</a:t>
            </a:r>
          </a:p>
          <a:p>
            <a:r>
              <a:rPr lang="en-IN" dirty="0" smtClean="0"/>
              <a:t>User → Flask Web App → Load Model → Prediction → Display Result</a:t>
            </a:r>
          </a:p>
          <a:p>
            <a:r>
              <a:rPr lang="en-IN" dirty="0" smtClean="0"/>
              <a:t>Technologies Used:</a:t>
            </a:r>
          </a:p>
          <a:p>
            <a:r>
              <a:rPr lang="en-IN" dirty="0" smtClean="0"/>
              <a:t>Python</a:t>
            </a:r>
          </a:p>
          <a:p>
            <a:r>
              <a:rPr lang="en-IN" dirty="0" smtClean="0"/>
              <a:t>Pandas</a:t>
            </a:r>
          </a:p>
          <a:p>
            <a:r>
              <a:rPr lang="en-IN" dirty="0" err="1" smtClean="0"/>
              <a:t>Scikit</a:t>
            </a:r>
            <a:r>
              <a:rPr lang="en-IN" dirty="0" smtClean="0"/>
              <a:t>-learn</a:t>
            </a:r>
          </a:p>
          <a:p>
            <a:r>
              <a:rPr lang="en-IN" dirty="0" smtClean="0"/>
              <a:t>Flask</a:t>
            </a:r>
          </a:p>
          <a:p>
            <a:r>
              <a:rPr lang="en-IN" dirty="0" err="1" smtClean="0"/>
              <a:t>Gunicorn</a:t>
            </a:r>
            <a:endParaRPr lang="en-IN" dirty="0" smtClean="0"/>
          </a:p>
          <a:p>
            <a:r>
              <a:rPr lang="en-IN" dirty="0" smtClean="0"/>
              <a:t>Render (Cloud Deployment)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2894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Web Application Demo</a:t>
            </a:r>
            <a:endParaRPr lang="en-IN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2987170"/>
            <a:ext cx="4046685" cy="2028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dirty="0"/>
              <a:t>User-friendly input form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dirty="0"/>
              <a:t>Real-time prediction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dirty="0"/>
              <a:t>Churn probability display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dirty="0"/>
              <a:t>Clear output message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b="4974"/>
          <a:stretch/>
        </p:blipFill>
        <p:spPr>
          <a:xfrm>
            <a:off x="5654675" y="2919760"/>
            <a:ext cx="4395788" cy="242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Business Recommendations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Based on model insights: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Provide loyalty rewards to low-tenure customers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Offer discounts to high-risk customers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Design targeted retention campaigns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Monitor customers with high monthly charges</a:t>
            </a:r>
          </a:p>
          <a:p>
            <a:r>
              <a:rPr lang="en-US" dirty="0" smtClean="0"/>
              <a:t>Expected Impact: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Reduced churn rate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Improved revenue retention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Increased customer lifetime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32346"/>
      </p:ext>
    </p:extLst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Successfully built and deployed a complete ML system:</a:t>
            </a:r>
          </a:p>
          <a:p>
            <a:r>
              <a:rPr lang="en-IN" dirty="0" smtClean="0"/>
              <a:t>✔ Data </a:t>
            </a:r>
            <a:r>
              <a:rPr lang="en-IN" dirty="0" err="1" smtClean="0"/>
              <a:t>preprocessing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✔ Model training</a:t>
            </a:r>
            <a:br>
              <a:rPr lang="en-IN" dirty="0" smtClean="0"/>
            </a:br>
            <a:r>
              <a:rPr lang="en-IN" dirty="0" smtClean="0"/>
              <a:t>✔ Evaluation</a:t>
            </a:r>
            <a:br>
              <a:rPr lang="en-IN" dirty="0" smtClean="0"/>
            </a:br>
            <a:r>
              <a:rPr lang="en-IN" dirty="0" smtClean="0"/>
              <a:t>✔ Model serialization</a:t>
            </a:r>
            <a:br>
              <a:rPr lang="en-IN" dirty="0" smtClean="0"/>
            </a:br>
            <a:r>
              <a:rPr lang="en-IN" dirty="0" smtClean="0"/>
              <a:t>✔ Flask web deployment</a:t>
            </a:r>
            <a:br>
              <a:rPr lang="en-IN" dirty="0" smtClean="0"/>
            </a:br>
            <a:r>
              <a:rPr lang="en-IN" dirty="0" smtClean="0"/>
              <a:t>✔ Cloud hosting</a:t>
            </a:r>
          </a:p>
          <a:p>
            <a:r>
              <a:rPr lang="en-IN" dirty="0" smtClean="0"/>
              <a:t>Achieved:</a:t>
            </a:r>
            <a:br>
              <a:rPr lang="en-IN" dirty="0" smtClean="0"/>
            </a:br>
            <a:r>
              <a:rPr lang="en-IN" dirty="0" smtClean="0"/>
              <a:t>95% Accuracy</a:t>
            </a:r>
            <a:br>
              <a:rPr lang="en-IN" dirty="0" smtClean="0"/>
            </a:br>
            <a:r>
              <a:rPr lang="en-IN" dirty="0" smtClean="0"/>
              <a:t>0.97 ROC-AUC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792025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416" y="2797519"/>
            <a:ext cx="9995780" cy="1032096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248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</TotalTime>
  <Words>462</Words>
  <Application>Microsoft Office PowerPoint</Application>
  <PresentationFormat>Widescreen</PresentationFormat>
  <Paragraphs>127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</vt:lpstr>
      <vt:lpstr>Customer Churn Prediction Using Machine Learning</vt:lpstr>
      <vt:lpstr>Problem Statement</vt:lpstr>
      <vt:lpstr>Business Impact</vt:lpstr>
      <vt:lpstr>Project Objectives</vt:lpstr>
      <vt:lpstr>Dataset Overview</vt:lpstr>
      <vt:lpstr>Data Preprocessing</vt:lpstr>
      <vt:lpstr>Exploratory Data Analysis (EDA)</vt:lpstr>
      <vt:lpstr>Feature Engineering</vt:lpstr>
      <vt:lpstr>Model Selection</vt:lpstr>
      <vt:lpstr>Model Performance</vt:lpstr>
      <vt:lpstr>Confusion Matrix</vt:lpstr>
      <vt:lpstr>ROC Curve</vt:lpstr>
      <vt:lpstr>Key Churn Drivers</vt:lpstr>
      <vt:lpstr>ML Pipeline</vt:lpstr>
      <vt:lpstr>Deployment Architecture</vt:lpstr>
      <vt:lpstr>Web Application Demo</vt:lpstr>
      <vt:lpstr>Business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Using Machine Learning</dc:title>
  <dc:creator>Shree</dc:creator>
  <cp:lastModifiedBy>Shree</cp:lastModifiedBy>
  <cp:revision>4</cp:revision>
  <dcterms:created xsi:type="dcterms:W3CDTF">2026-03-02T12:23:27Z</dcterms:created>
  <dcterms:modified xsi:type="dcterms:W3CDTF">2026-03-02T13:19:49Z</dcterms:modified>
</cp:coreProperties>
</file>